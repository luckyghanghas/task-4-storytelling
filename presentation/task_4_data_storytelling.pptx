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 Sales Analytics: from clean data to growth decisions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281635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0504A"/>
                </a:solidFill>
              </a:rPr>
              <a:t>A business storytelling deck for Task 4, using KPI evidence and statistical validation to support recommendations.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5C2D"/>
          </a:solidFill>
          <a:ln w="12700">
            <a:solidFill>
              <a:srgbClr val="A35C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question: where should we invest without damaging margin or customer experience?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281635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0504A"/>
                </a:solidFill>
              </a:rPr>
              <a:t>The answer is not simply more sales. The strongest path is profitable digital growth with tighter return-rate control.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Preparation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Task 1 created a reliable base for EDA, dashboarding, and statistical testing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6"/>
                </a:solidFill>
              </a:rPr>
              <a:t>Raw data quality issues handled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43891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72126"/>
                </a:solidFill>
              </a:rPr>
              <a:t>Duplicate order records removed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Mixed date formats standardized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Missing customer age and payment fields handled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Revenue outliers corrected and recalculated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261872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EAF1EE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572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6"/>
                </a:solidFill>
              </a:rPr>
              <a:t>Analysis-ready fields created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029968"/>
            <a:ext cx="448056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72126"/>
                </a:solidFill>
              </a:rPr>
              <a:t>gross_profit and gross_margin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month for trend analysis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age_group for segmentation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returned_flag for statistical and dashboard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Performance Snapshot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KPI view from the cleaned sales transaction dataset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64008" cy="84124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624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Revenue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6184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6"/>
                </a:solidFill>
              </a:rPr>
              <a:t>$5,328,492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61488" y="123444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234440"/>
            <a:ext cx="64008" cy="841248"/>
          </a:xfrm>
          <a:prstGeom prst="rect">
            <a:avLst/>
          </a:prstGeom>
          <a:solidFill>
            <a:srgbClr val="A35C2D"/>
          </a:solidFill>
          <a:ln w="12700">
            <a:solidFill>
              <a:srgbClr val="A35C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3624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Orders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0" y="16184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6"/>
                </a:solidFill>
              </a:rPr>
              <a:t>1,250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956048" y="123444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6048" y="1234440"/>
            <a:ext cx="64008" cy="841248"/>
          </a:xfrm>
          <a:prstGeom prst="rect">
            <a:avLst/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3624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AOV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20640" y="16184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6"/>
                </a:solidFill>
              </a:rPr>
              <a:t>$4,263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150608" y="123444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1234440"/>
            <a:ext cx="64008" cy="841248"/>
          </a:xfrm>
          <a:prstGeom prst="rect">
            <a:avLst/>
          </a:prstGeom>
          <a:solidFill>
            <a:srgbClr val="789262"/>
          </a:solidFill>
          <a:ln w="12700">
            <a:solidFill>
              <a:srgbClr val="7892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3624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Gross Margin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315200" y="16184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6"/>
                </a:solidFill>
              </a:rPr>
              <a:t>20.3%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345168" y="1234440"/>
            <a:ext cx="212140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168" y="1234440"/>
            <a:ext cx="64008" cy="841248"/>
          </a:xfrm>
          <a:prstGeom prst="rect">
            <a:avLst/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13624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509760" y="16184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6"/>
                </a:solidFill>
              </a:rPr>
              <a:t>5.2%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2542032"/>
            <a:ext cx="1078992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6"/>
                </a:solidFill>
              </a:rPr>
              <a:t>What the numbers mean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329184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0504A"/>
                </a:solidFill>
              </a:rPr>
              <a:t>The business has a healthy digital sales base, 20.3% gross margin, and 3.83 average customer rating. The next decision should protect profit and experience while growing revenue.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Mix: digital channels carry the growth story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Website and Mobile App are the primary engines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54864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09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Website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30552" y="1691640"/>
            <a:ext cx="3246120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9824" y="168249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$2,464,280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Mobile App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30552" y="2423160"/>
            <a:ext cx="2706328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032" y="241401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$2,054,499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960120" y="3172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Retail Store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30552" y="3154680"/>
            <a:ext cx="1066611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0315" y="31455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$809,714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492240" y="1234440"/>
            <a:ext cx="4937760" cy="4389120"/>
          </a:xfrm>
          <a:prstGeom prst="roundRect">
            <a:avLst>
              <a:gd name="adj" fmla="val 1250"/>
            </a:avLst>
          </a:prstGeom>
          <a:solidFill>
            <a:srgbClr val="F4E8DD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6"/>
                </a:solidFill>
              </a:rPr>
              <a:t>Business reading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2121408"/>
            <a:ext cx="38862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72126"/>
                </a:solidFill>
              </a:rPr>
              <a:t>Website is the largest revenue source.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Mobile App is close enough to justify focused retention campaigns.</a:t>
            </a:r>
            <a:endParaRPr lang="en-US" sz="1200" dirty="0"/>
          </a:p>
          <a:p>
            <a:r>
              <a:rPr lang="en-US" sz="1200" dirty="0">
                <a:solidFill>
                  <a:srgbClr val="172126"/>
                </a:solidFill>
              </a:rPr>
              <a:t>Retail Store supports the mix but should not be treated as the main growth channel.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and Category Story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Revenue strength should be balanced with return risk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07008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6420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Accessories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21408" y="1645920"/>
            <a:ext cx="3200400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6367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$1,609,822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950976" y="23042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Wearables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21408" y="2286000"/>
            <a:ext cx="2720065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4625" y="22768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$1,368,210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950976" y="29443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Audio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21408" y="2926080"/>
            <a:ext cx="2496363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923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$1,255,686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950976" y="35844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126"/>
                </a:solidFill>
              </a:rPr>
              <a:t>Office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21408" y="3566160"/>
            <a:ext cx="2176463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023" y="355701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$1,094,775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6400800" y="1207008"/>
            <a:ext cx="504748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1572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6"/>
                </a:solidFill>
              </a:rPr>
              <a:t>Return-rate watchlist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48272" y="20299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6"/>
                </a:solidFill>
              </a:rPr>
              <a:t>Wearables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21040" y="2048256"/>
            <a:ext cx="1828800" cy="137160"/>
          </a:xfrm>
          <a:prstGeom prst="roundRect">
            <a:avLst>
              <a:gd name="adj" fmla="val 26667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14432" y="20208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7.2%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48272" y="26151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6"/>
                </a:solidFill>
              </a:rPr>
              <a:t>Audio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21040" y="2633472"/>
            <a:ext cx="1640954" cy="137160"/>
          </a:xfrm>
          <a:prstGeom prst="roundRect">
            <a:avLst>
              <a:gd name="adj" fmla="val 26667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4432" y="2606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6.5%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48272" y="3200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6"/>
                </a:solidFill>
              </a:rPr>
              <a:t>Office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21040" y="3218688"/>
            <a:ext cx="1214937" cy="137160"/>
          </a:xfrm>
          <a:prstGeom prst="roundRect">
            <a:avLst>
              <a:gd name="adj" fmla="val 26667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14432" y="31912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4.8%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748272" y="3785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6"/>
                </a:solidFill>
              </a:rPr>
              <a:t>Accessories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21040" y="3803904"/>
            <a:ext cx="1004484" cy="137160"/>
          </a:xfrm>
          <a:prstGeom prst="roundRect">
            <a:avLst>
              <a:gd name="adj" fmla="val 26667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14432" y="37764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4.0%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11696" y="47365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0504A"/>
                </a:solidFill>
              </a:rPr>
              <a:t>Higher-return categories need better product explanation, expectation setting, and support.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Deep-Dive Finding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The best strategy combines digital retention with return reduction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141732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EAF1EE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41732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4E8DD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73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6"/>
                </a:solidFill>
              </a:rPr>
              <a:t>Grow digital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04A"/>
                </a:solidFill>
              </a:rPr>
              <a:t>Prioritize Website and Mobile App because they carry most revenue.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6592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926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6"/>
                </a:solidFill>
              </a:rPr>
              <a:t>Protect profit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606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04A"/>
                </a:solidFill>
              </a:rPr>
              <a:t>Keep gross margin visible in the same dashboard as revenue.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85632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5C2D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6"/>
                </a:solidFill>
              </a:rPr>
              <a:t>Reduce returns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606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04A"/>
                </a:solidFill>
              </a:rPr>
              <a:t>Target category and region issues before they become customer trust problems.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Validation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Two-proportion z-test comparing high-satisfaction rates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6"/>
                </a:solidFill>
              </a:rPr>
              <a:t>Hypothesis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0504A"/>
                </a:solidFill>
              </a:rPr>
              <a:t>H0: Website and Mobile App have the same high-satisfaction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04A"/>
                </a:solidFill>
              </a:rPr>
              <a:t>H1: Mobile App has a different high-satisfaction rate.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73"/>
                </a:solidFill>
              </a:rPr>
              <a:t>High satisfaction = rating 4 or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7648" y="123444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6D"/>
                </a:solidFill>
              </a:rPr>
              <a:t>Website high-satisfaction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74352" y="1600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68.9%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249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6D"/>
                </a:solidFill>
              </a:rPr>
              <a:t>Mobile App high-satisfaction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74352" y="2221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70.6%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71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6D"/>
                </a:solidFill>
              </a:rPr>
              <a:t>Z statistic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74352" y="28437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0.592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3493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6D"/>
                </a:solidFill>
              </a:rPr>
              <a:t>P-value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74352" y="34655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0.5540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114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6D"/>
                </a:solidFill>
              </a:rPr>
              <a:t>95% confidence interval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74352" y="40873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-3.9% to 7.3%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48006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0504A"/>
                </a:solidFill>
              </a:rPr>
              <a:t>Interpretation: p-value is above 0.05, so do not over-claim a statistically significant satisfaction difference between channels.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36D"/>
                </a:solidFill>
              </a:rPr>
              <a:t>Actions that connect revenue, margin, and experience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06424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57276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527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6"/>
                </a:solidFill>
              </a:rPr>
              <a:t>Increase digital retention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0" y="1527048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0504A"/>
                </a:solidFill>
              </a:rPr>
              <a:t>Create loyalty and repeat-purchase campaigns for Website and Mobile App customers.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EAF1EE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89864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9262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852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6"/>
                </a:solidFill>
              </a:rPr>
              <a:t>Fix high-return experience gaps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852928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0504A"/>
                </a:solidFill>
              </a:rPr>
              <a:t>Improve product pages, expectation setting, and support in categories with higher returns.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7240" y="402336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224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5C2D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178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6"/>
                </a:solidFill>
              </a:rPr>
              <a:t>Make KPI review weekly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4178808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0504A"/>
                </a:solidFill>
              </a:rPr>
              <a:t>Track revenue, gross margin, return rate, and customer rating in one leadership dashboard.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4672" y="1554480"/>
            <a:ext cx="164592" cy="164592"/>
          </a:xfrm>
          <a:prstGeom prst="ellipse">
            <a:avLst/>
          </a:prstGeom>
          <a:solidFill>
            <a:srgbClr val="F4E8D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Automate dashboard refresh using the cleaned dataset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" y="2377440"/>
            <a:ext cx="164592" cy="164592"/>
          </a:xfrm>
          <a:prstGeom prst="ellipse">
            <a:avLst/>
          </a:prstGeom>
          <a:solidFill>
            <a:srgbClr val="DDEA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331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Add customer lifetime value and repeat-purchase metrics.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3200400"/>
            <a:ext cx="164592" cy="164592"/>
          </a:xfrm>
          <a:prstGeom prst="ellipse">
            <a:avLst/>
          </a:prstGeom>
          <a:solidFill>
            <a:srgbClr val="F4E8D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1546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Connect marketing spend data to calculate true campaign ROI.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4023360"/>
            <a:ext cx="164592" cy="164592"/>
          </a:xfrm>
          <a:prstGeom prst="ellipse">
            <a:avLst/>
          </a:prstGeom>
          <a:solidFill>
            <a:srgbClr val="DDEA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977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the dashboard in weekly review meetings to track both growth and quality.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57150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8D6D1"/>
                </a:solidFill>
              </a:rPr>
              <a:t>Conclusion: grow digital, protect margin, reduce returns, and validate important claims before making big decisions.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Task 4 |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ApexPlanet Data Analytics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Story</dc:title>
  <dc:subject>Task 4 Data Storytelling and Statistical Validation</dc:subject>
  <dc:creator>luckyghanghas</dc:creator>
  <cp:lastModifiedBy>luckyghanghas</cp:lastModifiedBy>
  <cp:revision>1</cp:revision>
  <dcterms:created xsi:type="dcterms:W3CDTF">2026-05-28T09:45:07Z</dcterms:created>
  <dcterms:modified xsi:type="dcterms:W3CDTF">2026-05-28T09:45:07Z</dcterms:modified>
</cp:coreProperties>
</file>