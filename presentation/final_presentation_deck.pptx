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979dc9f94d4a91" /><Relationship Type="http://schemas.openxmlformats.org/officeDocument/2006/relationships/extended-properties" Target="/docProps/app.xml" Id="R4fb5b3c08c0a42ea" /><Relationship Type="http://schemas.openxmlformats.org/officeDocument/2006/relationships/officeDocument" Target="/ppt/presentation.xml" Id="Rfcd2f93ec7f14a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1d042f8235423b"/>
  </p:sldMasterIdLst>
  <p:notesMasterIdLst>
    <p:notesMasterId xmlns:r="http://schemas.openxmlformats.org/officeDocument/2006/relationships" r:id="R8408cfef2b6b44cb"/>
  </p:notesMasterIdLst>
  <p:sldIdLst>
    <p:sldId xmlns:r="http://schemas.openxmlformats.org/officeDocument/2006/relationships" id="256" r:id="Rd8831e2c26814f2d"/>
    <p:sldId xmlns:r="http://schemas.openxmlformats.org/officeDocument/2006/relationships" id="257" r:id="R500c7844041043e3"/>
    <p:sldId xmlns:r="http://schemas.openxmlformats.org/officeDocument/2006/relationships" id="258" r:id="Rf1544f776c7f4b20"/>
    <p:sldId xmlns:r="http://schemas.openxmlformats.org/officeDocument/2006/relationships" id="259" r:id="R99fe554bde554053"/>
    <p:sldId xmlns:r="http://schemas.openxmlformats.org/officeDocument/2006/relationships" id="260" r:id="R7c96a4269c1744fe"/>
    <p:sldId xmlns:r="http://schemas.openxmlformats.org/officeDocument/2006/relationships" id="261" r:id="Rca8e8198c1c64f2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1d042f8235423b" /><Relationship Type="http://schemas.openxmlformats.org/officeDocument/2006/relationships/theme" Target="/ppt/theme/theme1.xml" Id="Rf8fe730a503d4f51" /><Relationship Type="http://schemas.openxmlformats.org/officeDocument/2006/relationships/notesMaster" Target="/ppt/notesMasters/notesMaster1.xml" Id="R8408cfef2b6b44cb" /><Relationship Type="http://schemas.openxmlformats.org/officeDocument/2006/relationships/presProps" Target="/ppt/presProps.xml" Id="Redad6d4d13f14812" /><Relationship Type="http://schemas.openxmlformats.org/officeDocument/2006/relationships/viewProps" Target="/ppt/viewProps.xml" Id="R128e3db81feb4675" /><Relationship Type="http://schemas.openxmlformats.org/officeDocument/2006/relationships/tableStyles" Target="/ppt/tableStyles.xml" Id="Raa91f18524374461" /><Relationship Type="http://schemas.openxmlformats.org/officeDocument/2006/relationships/slide" Target="/ppt/slides/slide1.xml" Id="Rd8831e2c26814f2d" /><Relationship Type="http://schemas.openxmlformats.org/officeDocument/2006/relationships/slide" Target="/ppt/slides/slide2.xml" Id="R500c7844041043e3" /><Relationship Type="http://schemas.openxmlformats.org/officeDocument/2006/relationships/slide" Target="/ppt/slides/slide3.xml" Id="Rf1544f776c7f4b20" /><Relationship Type="http://schemas.openxmlformats.org/officeDocument/2006/relationships/slide" Target="/ppt/slides/slide4.xml" Id="R99fe554bde554053" /><Relationship Type="http://schemas.openxmlformats.org/officeDocument/2006/relationships/slide" Target="/ppt/slides/slide5.xml" Id="R7c96a4269c1744fe" /><Relationship Type="http://schemas.openxmlformats.org/officeDocument/2006/relationships/slide" Target="/ppt/slides/slide6.xml" Id="Rca8e8198c1c64f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571c6aceab744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b60824367b4f6a" /><Relationship Type="http://schemas.openxmlformats.org/officeDocument/2006/relationships/notesMaster" Target="/ppt/notesMasters/notesMaster1.xml" Id="Rf6e97cd691e846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3daa55572b45d1" /><Relationship Type="http://schemas.openxmlformats.org/officeDocument/2006/relationships/notesMaster" Target="/ppt/notesMasters/notesMaster1.xml" Id="Ra9085a783fca45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cd627d178b465f" /><Relationship Type="http://schemas.openxmlformats.org/officeDocument/2006/relationships/notesMaster" Target="/ppt/notesMasters/notesMaster1.xml" Id="R0f3d59b22dfe4f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49b40f0184437b" /><Relationship Type="http://schemas.openxmlformats.org/officeDocument/2006/relationships/notesMaster" Target="/ppt/notesMasters/notesMaster1.xml" Id="R8959dba18d5141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e6472a538441dc" /><Relationship Type="http://schemas.openxmlformats.org/officeDocument/2006/relationships/notesMaster" Target="/ppt/notesMasters/notesMaster1.xml" Id="Rb8eb36679f5b43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3175c1ddf5400c" /><Relationship Type="http://schemas.openxmlformats.org/officeDocument/2006/relationships/notesMaster" Target="/ppt/notesMasters/notesMaster1.xml" Id="R358396dc801e4f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3685c58fa4b9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f2a69e6be854523" /><Relationship Type="http://schemas.openxmlformats.org/officeDocument/2006/relationships/slideLayout" Target="/ppt/slideLayouts/slideLayout2.xml" Id="R06fa1adccbf745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fa1adccbf745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cbcddf931b4a57" /><Relationship Type="http://schemas.openxmlformats.org/officeDocument/2006/relationships/notesSlide" Target="/ppt/notesSlides/notesSlide1.xml" Id="Rab50847d92074b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b26fd58e20439b" /><Relationship Type="http://schemas.openxmlformats.org/officeDocument/2006/relationships/notesSlide" Target="/ppt/notesSlides/notesSlide2.xml" Id="R2660c9df631c4a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f7f905f6fe4e7f" /><Relationship Type="http://schemas.openxmlformats.org/officeDocument/2006/relationships/notesSlide" Target="/ppt/notesSlides/notesSlide3.xml" Id="R5b333ba64ab045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c1c1fd791f4f06" /><Relationship Type="http://schemas.openxmlformats.org/officeDocument/2006/relationships/notesSlide" Target="/ppt/notesSlides/notesSlide4.xml" Id="R8596be9557d147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3c0045d3ed4aa9" /><Relationship Type="http://schemas.openxmlformats.org/officeDocument/2006/relationships/notesSlide" Target="/ppt/notesSlides/notesSlide5.xml" Id="R452bd7baf54c41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62b22653654635" /><Relationship Type="http://schemas.openxmlformats.org/officeDocument/2006/relationships/notesSlide" Target="/ppt/notesSlides/notesSlide6.xml" Id="Rcb6ab71ab88a460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4429AC-7597-45F0-A682-1EFBDE86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1ECDD-A6EA-4F06-B47E-F8965498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>
            <a:solidFill>
              <a:srgbClr val="EAF3F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F06FA-5BB3-4C13-8710-5DEE52FD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Sales Performance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A3B53-2A57-452E-8F3F-CC931ECF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DDEAF6"/>
                </a:solidFill>
                <a:latin typeface="Aptos"/>
                <a:ea typeface="Aptos"/>
                <a:cs typeface="Aptos"/>
              </a:rPr>
              <a:t>Task 4: Data Storytelling &amp; Statistical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80937-BBE8-473D-8DC5-6785FC6C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BBD0E6"/>
                </a:solidFill>
                <a:latin typeface="Aptos"/>
                <a:ea typeface="Aptos"/>
                <a:cs typeface="Aptos"/>
              </a:rPr>
              <a:t>ApexPlanet Data Analytics Internship Portfolio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8366C-A844-41EB-B0D0-ADE5A216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603FF-99A3-4D5C-A515-DA055483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Completed Revenue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A07D5-E4FB-4570-8477-611D19C1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Rs. 78,13,182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2CE06-01D8-4D8E-A3B3-CA2A40BB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351A3-9044-4224-B83E-BF68C722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Completed Orders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23A6C-266F-4A4B-BF3F-7ABEAE1B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209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C63B3-2106-49F5-B57D-B422B391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C3ABE-EE16-436A-876F-808F4A97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Average Order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9BD6A-A65A-4CE9-BC03-A9D5A687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Rs. 37,384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958F6-C66A-43EB-9937-9B36CFD0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4578E4-8302-4783-9889-E22F37F6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Statistical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82801E-CF7B-476C-8CF4-45E7B966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p = 0.0029</a:t>
            </a:r>
          </a:p>
        </p:txBody>
      </p:sp>
    </p:spTree>
    <p:extLst>
      <p:ext uri="{BB962C8B-B14F-4D97-AF65-F5344CB8AC3E}">
        <p14:creationId xmlns:p14="http://schemas.microsoft.com/office/powerpoint/2010/main" val="1159110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8092F5-0044-45F5-AF13-64EB25AF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>
            <a:solidFill>
              <a:srgbClr val="F6F8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BAFA5-83AB-4A39-8F01-48C32973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FCDAC-3AC4-498D-AE6D-244F0852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Business narrative from the completed sales dataset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4D856-8A1E-4C53-B7A0-2DE7E393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>
            <a:solidFill>
              <a:srgbClr val="D9E2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A359A-AFD5-46E4-A00B-2877E0D8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00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Data Analytics Internship | Task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33128-3C77-4AE7-89D0-3C476A7F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F92E3-F391-42DD-BFFA-A9CCE64E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Revenue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DA61E-BCE1-454B-B44F-04294E65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Rs. 78,13,182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4F9E5-6FFE-45BC-AB7D-23B17C71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5D821-D2F7-41B4-B0DE-547A34DA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Orders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38424-CF31-44B2-B81B-15FBED4E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209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76654-54F7-46B0-A6BB-BABD2425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3A0D63-A7D7-4F65-9E8E-1025F895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AOV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085903-4F84-42B7-8D00-D9E4416B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Rs. 37,384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0C9EC-8C60-404C-B251-7B73FA86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E9DB0-DED3-4FE2-B201-B6B483B7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Return 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EFA13-995F-414B-A047-D3DD20BF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10.5%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4E2E4B-081F-4CBA-A89B-2257A3C5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883666-17F0-4B08-8FBE-94D8B00C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Cancel 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B0CF64-0174-4149-9937-18473232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5.2%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23E4FF-5298-4661-A39A-D76374F4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? Small Business is the highest revenue customer segment.</a:t>
            </a:r>
          </a:p>
          <a:p xmlns:a="http://schemas.openxmlformats.org/drawingml/2006/main"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? Retail and Online are the strongest channels.</a:t>
            </a:r>
          </a:p>
          <a:p xmlns:a="http://schemas.openxmlformats.org/drawingml/2006/main"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? Enterprise via Online is the strongest segment-channel combination.</a:t>
            </a:r>
          </a:p>
          <a:p xmlns:a="http://schemas.openxmlformats.org/drawingml/2006/main"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? Statistical testing confirms segment and channel are associated.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EA0C45-2E7C-41AE-B4ED-39040A77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Segment Revenue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20640E-0701-4D27-A342-2F57AB25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Small Business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C4A45B-C951-44AD-91DE-4E524990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solidFill>
              <a:srgbClr val="0F766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6540DC-A87D-4540-80D7-7C9C3B67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Rs. 24,45,248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9987D3-7FB0-4545-A60B-32DEF495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A72751-35DD-4052-8707-DA8729B0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solidFill>
              <a:srgbClr val="0F766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E02F76-CB08-461A-9D05-9E646DAE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Rs. 19,07,198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3C4543-95C8-4879-8356-5C18E8DC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Enterprise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E73414-D953-4DA0-82B4-4C174BFB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solidFill>
              <a:srgbClr val="0F766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6AD5B0-D3F8-4FE9-99F5-E406BFA4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Rs. 17,62,736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E20C9C-B669-4ED4-B614-B61F5CB8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Professional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09541F-4163-4E85-84C7-02FA0464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solidFill>
              <a:srgbClr val="0F766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F18661-18AB-481B-B679-71C24086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Rs. 16,98,000</a:t>
            </a:r>
          </a:p>
        </p:txBody>
      </p:sp>
    </p:spTree>
    <p:extLst>
      <p:ext uri="{BB962C8B-B14F-4D97-AF65-F5344CB8AC3E}">
        <p14:creationId xmlns:p14="http://schemas.microsoft.com/office/powerpoint/2010/main" val="10771051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4F8EC4-C443-477B-B4F5-7700D6EB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>
            <a:solidFill>
              <a:srgbClr val="F6F8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57479-0291-4BA5-958B-358FC22F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Hypothesis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7608F-4157-4F40-A3A1-1D1D383B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Chi-square test of independence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99F82-1809-4486-8CA1-F22E623A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>
            <a:solidFill>
              <a:srgbClr val="D9E2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86D86-BEE4-472E-AB42-6DDD225A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00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Data Analytics Internship | Task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B9574-8CD4-40E7-8F8D-6ABE5B7D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EDB2F-C873-42A8-80B7-C68C0439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Business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AFCFC-4551-4327-BFAA-37EE945E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Is customer segment significantly related to sales channel for completed orders?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19101-CB73-4E58-92B0-FD4C5088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H0: independent</a:t>
            </a:r>
          </a:p>
          <a:p xmlns:a="http://schemas.openxmlformats.org/drawingml/2006/main"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H1: associated</a:t>
            </a:r>
          </a:p>
          <a:p xmlns:a="http://schemas.openxmlformats.org/drawingml/2006/main"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Alpha = 0.05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AB542-F0DE-459A-9021-93ACE765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16494-9FBF-4278-A88E-B2A0A5E7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5022B9-FF54-4E70-9D9A-C7CBB268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Chi-square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8CB92-7F3F-45EB-920D-892A8B98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19.8872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61AC46-478A-4B0C-9EA4-716B993D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CE30D-F558-4D28-953C-86E25B67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p-value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3F7A0-9552-4C26-9FF0-6C9C11C1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0.0029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5B4361-F860-4D2E-9183-41C16BAB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Decision: Reject H0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E21BE6-5DCB-49AD-B354-3F7650F8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Customer segment and sales channel appear to be associated; channel strategy should be reviewed separately for each segment.</a:t>
            </a:r>
          </a:p>
        </p:txBody>
      </p:sp>
    </p:spTree>
    <p:extLst>
      <p:ext uri="{BB962C8B-B14F-4D97-AF65-F5344CB8AC3E}">
        <p14:creationId xmlns:p14="http://schemas.microsoft.com/office/powerpoint/2010/main" val="17664697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6A1F5E-424B-4BFB-AAE8-4844E7DA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>
            <a:solidFill>
              <a:srgbClr val="F6F8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A4AFF-CEB9-4391-89DA-BB443E66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Revenue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76C32-14AD-433B-BDC2-C86F4B2B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Segment and channel contribution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6B813-63DA-4A8F-90F9-F313BD93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>
            <a:solidFill>
              <a:srgbClr val="D9E2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546E6-2217-4B7F-BB09-5954CBFC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00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Data Analytics Internship | Task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13CF5-497F-4D01-BC79-ABB8BF48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Customer Segment Revenue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52DE6-00CD-45B3-9288-867F3564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Small Business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075C6-925F-4BE5-A618-B3185BB1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solidFill>
              <a:srgbClr val="0F766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B2CA0-5BD5-4EB3-B01C-874FD19C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Rs. 24,45,248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6A6A7-EBBF-4AC1-951A-865D5EAA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59492-5434-4300-BCB4-DF0068A0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7A197-024E-4CBE-B46D-D79FD5D5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Rs. 19,07,198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805F2-19CF-45C4-A3B0-B375E055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Enterprise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A9FF9C-26D2-4B02-80CE-6EC9A80A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A7EDC1-B6EF-4744-8CFE-3FB67856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Rs. 17,62,736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4E44C8-594A-4644-B98A-D5496254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Professional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D92FB-BE3F-473E-BEF5-B57DE7A8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solidFill>
              <a:srgbClr val="0F766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9549D-6BBD-4097-A2A4-74BAEE63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Rs. 16,98,000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6F2EBE-81E0-4AEC-BD68-B88A4AD4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Sales Channel Revenue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D08A00-C28B-484B-BE78-D8F3DA3F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Retail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0A018A-F461-4FA3-AA55-CE6F398D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>
            <a:solidFill>
              <a:srgbClr val="B7791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484232-7105-4176-8C14-4B900931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Rs. 28,08,826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C46574-D9E6-44F9-BB0B-765929BA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Online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8D719A-D25A-44FA-BA43-4E8C7EBC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>
            <a:solidFill>
              <a:srgbClr val="B7791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8C96BC-6AB1-4139-9F48-676A39BA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Rs. 28,04,654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7C8273-F3D2-4B84-BD08-7E6BE8CD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Partner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ADC1FB-7375-4BD2-8F73-E583B6C5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>
            <a:solidFill>
              <a:srgbClr val="B7791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AC4241-A27B-41C0-A7CA-5894E50B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Rs. 21,99,702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AC59A7-85BF-4CB2-8E3E-08101BB5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045D65-27BF-4C8E-A0A6-7A306668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Key message: targeted segment-channel planning can outperform broad channel averages.</a:t>
            </a:r>
          </a:p>
        </p:txBody>
      </p:sp>
    </p:spTree>
    <p:extLst>
      <p:ext uri="{BB962C8B-B14F-4D97-AF65-F5344CB8AC3E}">
        <p14:creationId xmlns:p14="http://schemas.microsoft.com/office/powerpoint/2010/main" val="10011405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3A3C91-4389-42E9-BEC0-C98BC759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>
            <a:solidFill>
              <a:srgbClr val="F6F8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6E639-DDA8-4148-B2F2-C7F404D9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Monthly Trend &amp; Product Mix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5890C-209E-45E0-9726-B8614D52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Trends behind sales performance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65FDB-A3DC-4C25-A89A-AA77855C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>
            <a:solidFill>
              <a:srgbClr val="D9E2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E0234-C487-4331-AC64-5015D3F3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00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Data Analytics Internship | Task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8E428-A5D6-45D3-B0A5-30F92F67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Latest 6 Months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22ADF-6C22-4BF8-AA87-62334AE8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96D0F-7EBB-4949-95BF-6415F988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Month        Revenue        Orders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99B51-2568-4FD6-A90B-0179535C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2025-07     Rs. 9,34,348     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FDEFA-E2DB-4552-83FC-49B4FBE1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2025-08     Rs. 1,51,694     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5CC8E-D2E7-4761-8C8D-5BF239E9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2025-09     Rs. 9,96,051     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E44ED-0634-4097-B128-C9D78C62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2025-10     Rs. 4,72,067     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C6D1B0-C7CC-4829-BF38-120A5AD6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2025-11     Rs. 14,11,316     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50A399-A9FC-4298-96FC-32099658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2025-12     Rs. 5,27,629     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2D266-08C3-4DD2-8138-7E6BF956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Top Products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04EA47-FD29-4A73-8DD7-B0F49B8E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Laptop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37A4B4-DDBC-44F6-A676-2F1FF7C4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solidFill>
              <a:srgbClr val="0F766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C1C7B-2CD4-44B0-B51A-6BBFC179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Rs. 46,73,353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913E51-9A5F-4DCE-9123-37B03198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Smartphone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40D6CE-F76D-4FE0-BBF4-B506E77E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solidFill>
              <a:srgbClr val="0F766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01DB50-B5D4-405C-B2CC-0CAA2175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Rs. 15,94,179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6938E8-A16C-4618-90D0-8BF39427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Monitor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046774-1E8C-4BCC-B399-18DF471D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solidFill>
              <a:srgbClr val="0F766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85095C-A476-45BB-A2D6-6BAAA270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Rs. 11,59,674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C3BA8D-6755-4AA0-9271-402BF850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Headphones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3AEC31-453D-42BD-A2A9-35CEFC19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solidFill>
              <a:srgbClr val="0F766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0CE401-7444-4A3B-96B1-1C6670D8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Rs. 1,83,660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B1D4D3-3E54-403C-B0C1-D3CCF196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Keyboard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118C7D-7C92-4B95-A71A-57E41F4D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solidFill>
              <a:srgbClr val="0F766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58BC03-5292-4D73-9554-90B9C0A6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Rs. 1,21,700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88BCF4-3101-414B-B326-5F14E4F6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Mouse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FC3EBC-41A8-42E0-B33C-3201871E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solidFill>
              <a:srgbClr val="0F766E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0AFBFA-385B-4188-9F66-218E0F2E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Rs. 80,616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800B5E-BA2F-45AC-9573-E44BA0BA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Laptop revenue dominates product contribution, while smaller products support volume.</a:t>
            </a:r>
          </a:p>
        </p:txBody>
      </p:sp>
    </p:spTree>
    <p:extLst>
      <p:ext uri="{BB962C8B-B14F-4D97-AF65-F5344CB8AC3E}">
        <p14:creationId xmlns:p14="http://schemas.microsoft.com/office/powerpoint/2010/main" val="213157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E10391-C7DC-4E5C-932D-E01D6584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>
            <a:solidFill>
              <a:srgbClr val="F6F8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15343-2427-4217-BBD1-C966878F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Recommendations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D6F24-76CB-4E67-B250-4CEDAC1F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Actions for stakeholders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F3384-0FEF-4427-8F85-B57E6155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>
            <a:solidFill>
              <a:srgbClr val="D9E2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F564D-FB7A-4358-BCC0-F7BAA183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00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Data Analytics Internship | Task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1D2B8-0378-42DB-BD8D-182D8C51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? Build segment-specific channel plans.</a:t>
            </a:r>
          </a:p>
          <a:p xmlns:a="http://schemas.openxmlformats.org/drawingml/2006/main"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? Use Retail and Online as benchmark channels.</a:t>
            </a:r>
          </a:p>
          <a:p xmlns:a="http://schemas.openxmlformats.org/drawingml/2006/main"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? Monitor AOV along with order count.</a:t>
            </a:r>
          </a:p>
          <a:p xmlns:a="http://schemas.openxmlformats.org/drawingml/2006/main"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? Track returns and cancellations in every review.</a:t>
            </a:r>
          </a:p>
          <a:p xmlns:a="http://schemas.openxmlformats.org/drawingml/2006/main"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? Use the Task 3 dashboard for monthly KPI 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78D5A-26D6-4BFB-9792-8517058F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C995F-66B6-46A1-A924-3D326567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Call to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A386B-8460-4EAB-B51B-39D496AE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Review segment-channel KPIs monthly and prioritize campaigns where revenue and order value are strongest.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B3214-1EB8-449A-ADA6-D935E618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Validated by chi-square test, p = 0.0029</a:t>
            </a:r>
          </a:p>
        </p:txBody>
      </p:sp>
    </p:spTree>
    <p:extLst>
      <p:ext uri="{BB962C8B-B14F-4D97-AF65-F5344CB8AC3E}">
        <p14:creationId xmlns:p14="http://schemas.microsoft.com/office/powerpoint/2010/main" val="6268657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2026-05-16T06:42:33.6040000Z</dcterms:created>
  <dcterms:modified xsi:type="dcterms:W3CDTF">2026-05-16T06:42:33.6040000Z</dcterms:modified>
</coreProperties>
</file>