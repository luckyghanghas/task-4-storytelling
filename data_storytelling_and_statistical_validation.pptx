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notesSlides/notesSlide5.xml" ContentType="application/vnd.openxmlformats-officedocument.presentationml.notesSlide+xml"/>
  <Override PartName="/ppt/ink/ink9.xml" ContentType="application/inkml+xml"/>
  <Override PartName="/ppt/notesSlides/notesSlide6.xml" ContentType="application/vnd.openxmlformats-officedocument.presentationml.notesSlide+xml"/>
  <Override PartName="/ppt/ink/ink10.xml" ContentType="application/inkml+xml"/>
  <Override PartName="/ppt/ink/ink11.xml" ContentType="application/inkml+xml"/>
  <Override PartName="/ppt/notesSlides/notesSlide7.xml" ContentType="application/vnd.openxmlformats-officedocument.presentationml.notesSlide+xml"/>
  <Override PartName="/ppt/ink/ink12.xml" ContentType="application/inkml+xml"/>
  <Override PartName="/ppt/notesSlides/notesSlide8.xml" ContentType="application/vnd.openxmlformats-officedocument.presentationml.notesSlide+xml"/>
  <Override PartName="/ppt/ink/ink13.xml" ContentType="application/inkml+xml"/>
  <Override PartName="/ppt/ink/ink14.xml" ContentType="application/inkml+xml"/>
  <Override PartName="/ppt/ink/ink15.xml" ContentType="application/inkml+xml"/>
  <Override PartName="/ppt/notesSlides/notesSlide9.xml" ContentType="application/vnd.openxmlformats-officedocument.presentationml.notesSlide+xml"/>
  <Override PartName="/ppt/ink/ink16.xml" ContentType="application/inkml+xml"/>
  <Override PartName="/ppt/ink/ink17.xml" ContentType="application/inkml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Kanit Light" panose="020B0604020202020204" charset="-34"/>
      <p:regular r:id="rId13"/>
    </p:embeddedFont>
    <p:embeddedFont>
      <p:font typeface="Martel Sans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3E7A35-C56B-4B57-8997-C7A95BDCF259}" v="14" dt="2026-05-16T07:44:44.3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72" y="3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7:43:31.65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1208 0 24438,'-1207'210'0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7:43:35.55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4 24575,'3'0'0,"5"0"0,2-3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7:43:39.47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959 20 24120,'-959'-20'0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7:43:42.53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102 0 24575,'-4'0'0,"-4"0"0,-4 0 0,-5 0 0,-2 0 0,-1 0 0,-2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7:43:43.15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7:43:45.10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1 413 24575,'69'0'0,"315"-12"0,60 1 0,-276 13 0,1005-2 0,-1134-1 0,42-8 0,-43 3 0,46 1 0,-71 5 0,-6 1 0,0-1 0,1 0 0,-1-1 0,0 0 0,1 0 0,11-3 0,-17 3 0,0 0 0,0 0 0,-1 0 0,1-1 0,0 1 0,-1 0 0,1-1 0,-1 1 0,1 0 0,-1-1 0,0 0 0,1 1 0,-1-1 0,0 0 0,0 0 0,0 0 0,-1 1 0,1-1 0,0 0 0,-1 0 0,1 0 0,-1 0 0,0 0 0,1-1 0,-1 1 0,0 0 0,0 0 0,-1-4 0,0 2 0,1-1 0,-1 0 0,0 0 0,0 1 0,-1-1 0,1 1 0,-1-1 0,0 1 0,0 0 0,-1-1 0,1 1 0,-1 0 0,0 1 0,-5-6 0,-13-20 0,-15-53 0,30 71 0,0 1 0,0-1 0,1-1 0,0 1 0,1-1 0,-3-13 0,7 22-72,-1 1 1,0 0-1,1 0 0,-1 0 0,0 0 0,0-1 0,0 1 0,0 0 1,0 0-1,-1 1 0,1-1 0,-1 0 0,1 0 0,-1 1 0,0-1 1,1 1-1,-1-1 0,-3-1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7:43:53.26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45 24575,'1222'0'0,"-1200"-1"0,1-2 0,-1 0 0,39-11 0,-39 8 0,0 1 0,0 1 0,42-2 0,-42 5 0,-12 0 0,-1 1 0,1 0 0,0 0 0,15 4 0,-23-4 0,0 1 0,0 0 0,0-1 0,0 1 0,0 0 0,0 0 0,0 0 0,0 0 0,-1 0 0,1 0 0,0 1 0,-1-1 0,1 1 0,-1-1 0,1 1 0,-1 0 0,0-1 0,0 1 0,0 0 0,0 0 0,0 0 0,0 0 0,0 0 0,0 0 0,-1 0 0,1 2 0,2 13 114,-2 0 0,0 33 0,-1-42-304,-1 0 0,0 0 1,0 0-1,0-1 0,-1 1 1,0 0-1,-1-1 1,-5 11-1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7:43:56.10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417 357 24563,'3762'0'0,"-7941"-356"0,4596 712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7:44:05.34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108 0 24561,'-107'343'0,"2572"-343"0,-2357-343 0,-2574 343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7:44:11.51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66 24575,'2084'0'0,"-2055"-2"0,0-2 0,48-11 0,-59 11 0,34-7 0,-18 2 0,0 2 0,1 1 0,53-1 0,-35 7 0,79 2 0,-130-2 0,-1 0 0,1 0 0,-1 0 0,0 0 0,1 1 0,-1-1 0,1 0 0,-1 1 0,0-1 0,1 1 0,-1-1 0,0 1 0,1 0 0,-1-1 0,0 1 0,0 0 0,0 0 0,0 0 0,0 0 0,0 0 0,0 0 0,0 0 0,0 0 0,0 0 0,0 0 0,-1 1 0,1-1 0,-1 0 0,1 1 0,-1-1 0,1 0 0,-1 1 0,0-1 0,1 1 0,-1-1 0,0 0 0,0 1 0,0-1 0,0 1 0,0-1 0,-1 1 0,1 1 0,-3 8 0,0 0 0,-1 0 0,0 0 0,-10 16 0,0 5 0,3 2 0,2 1 0,-7 44 0,16-76 11,-1 0 0,1 0 1,-1 0-1,0 0 0,0 0 0,0-1 0,0 1 0,-1 0 0,1 0 0,-1-1 0,1 1 0,-1-1 1,0 0-1,0 1 0,0-1 0,-1 0 0,1 0 0,0 0 0,-1-1 0,1 1 0,-1 0 1,0-1-1,1 0 0,-1 0 0,0 0 0,0 0 0,0 0 0,-3 1 0,-9 0-159,0-1-1,0 0 0,0-1 1,-24-2-1,10 0-795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7:44:13.77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2420 217 24575,'-190'-2'0,"-205"4"0,221 15 0,-191 42 0,211-30 0,96-19 0,-6 2 0,-113 7 0,-315-18 0,226-3 0,262 3 0,0-1 0,1 0 0,-1-1 0,0 1 0,0-1 0,1 1 0,-1-1 0,1 0 0,-1 0 0,1-1 0,-1 1 0,1-1 0,-1 0 0,1 0 0,-6-4 0,7 3 0,0 0 0,0 0 0,0 0 0,0 0 0,0-1 0,1 1 0,-1-1 0,1 1 0,0-1 0,0 1 0,0-1 0,0 0 0,1 1 0,0-1 0,0-7 0,-1 1 0,1 2 0,-1-1 0,2 1 0,-1-1 0,1 1 0,2-10 0,-2 16 0,-1 0 0,1 0 0,0 0 0,0 0 0,0 0 0,0 0 0,0 0 0,0 1 0,1-1 0,-1 0 0,0 1 0,1-1 0,-1 1 0,1-1 0,0 1 0,-1 0 0,1 0 0,0 0 0,0 0 0,0 0 0,0 0 0,0 0 0,0 0 0,0 1 0,3-1 0,15-2 0,-1 2 0,36 1 0,-33 0 0,40-3 0,15-12 0,-46 8 0,0 2 0,33-2 0,20 7 0,-53 2 0,1-3 0,-1 0 0,38-7 0,-27 2 0,68-3 0,-75 8 0,-1-1 0,0-2 0,45-11 0,-67 11 0,27-7 0,-1 2 0,47-6 0,236-5 0,77 21 0,-361-6 342,-22-4-684,-14 8 298,-1 1 0,0-1 0,0 1 0,1-1 0,-1 1 0,0-1 0,0 1 0,0-1 0,0 1 0,0-1 0,0 1 0,0-1 0,0 1 0,0-1 0,0 1 0,0-1 0,0 1 0,0-1-1,0 1 1,0-1 0,0 1 0,-1-1 0,1 1 0,0 0 0,0-1 0,-1 1 0,1-1 0,0 1 0,-1-1 0,1 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7:44:24.13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142 64 24575,'1118'0'0,"-1094"-2"0,0 0 0,0-2 0,-1-1 0,43-14 0,-42 11 0,0 1 0,0 2 0,0 0 0,38-2 0,435 7 0,-200 2 0,-294-2 0,-1 0 0,1-1 0,-1 2 0,1-1 0,-1 0 0,0 0 0,1 1 0,-1-1 0,1 1 0,-1 0 0,0 0 0,0 0 0,1 0 0,-1 0 0,0 0 0,0 1 0,0-1 0,0 1 0,0-1 0,-1 1 0,1 0 0,1 1 0,-1 2 0,0-1 0,0 0 0,-1 1 0,0-1 0,1 1 0,-2-1 0,1 1 0,-1 0 0,1-1 0,-2 10 0,2-5 0,0 1 0,0-1 0,1 1 0,0-1 0,0 0 0,6 13 0,4 16 0,-12-37 0,0-1 0,0 1 0,1-1 0,-1 1 0,0 0 0,0-1 0,0 1 0,0 0 0,0-1 0,0 1 0,0-1 0,0 1 0,0 0 0,-1-1 0,1 1 0,0-1 0,0 1 0,-1-1 0,1 1 0,0 0 0,0-1 0,-1 1 0,1-1 0,-1 1 0,1-1 0,0 0 0,-1 1 0,1-1 0,-1 1 0,1-1 0,-2 1 0,-22 3 0,-27-13 0,24 2 0,0 1 0,0 2 0,-1 0 0,1 2 0,-38 2 0,49-1 0,1 0 0,-30-7 0,-25-2 0,19 9 0,22 1 0,-1-1 0,-56-9 0,45 4 0,1 2 0,0 1 0,-60 5 0,27 0 0,-63-3 0,-130 3 0,148 8 0,-57 1 0,60-13 0,-124 4 0,136 7 0,-60 3 0,104-14 0,39 0 0,0 1 0,0 1 0,0 1 0,-32 5 0,51-5 0,-1-1 0,0 0 0,0 1 0,0-1 0,0 1 0,1 0 0,-1-1 0,0 1 0,0 0 0,1 0 0,-1 0 0,1 0 0,-1 0 0,1 1 0,-1-1 0,1 0 0,0 1 0,0-1 0,-1 1 0,1-1 0,0 1 0,0 0 0,1-1 0,-1 1 0,0 0 0,1-1 0,-1 1 0,1 0 0,-1 0 0,1 0 0,-1 3 0,2-2 0,0 0 0,-1 0 0,1 0 0,0 0 0,0 0 0,1 0 0,-1 0 0,0 0 0,1-1 0,0 1 0,0-1 0,0 1 0,0-1 0,0 0 0,0 1 0,0-1 0,1 0 0,4 3 0,1-1 0,0 0 0,1 0 0,-1 0 0,1-1 0,0 0 0,0-1 0,0 0 0,0 0 0,14 0 0,12-1 0,42-4 0,-15 1 0,-16 2 0,3 1 0,-1-2 0,1-2 0,-1-2 0,66-16 0,-94 17 0,0 1 0,0 0 0,0 2 0,23 0 0,21-1 0,-51 0 0,1 0 0,-1-1 0,23-9 0,-22 7 0,0 1 0,23-4 0,40 1 0,127 7 0,-85 2 0,860-2-1365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7:44:29.84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24575,'2250'0'0,"-2247"0"0,-1-1 0,1 1 0,-1 1 0,1-1 0,-1 0 0,1 0 0,-1 1 0,1 0 0,-1-1 0,1 1 0,-1 0 0,0 0 0,1 0 0,-1 0 0,0 1 0,0-1 0,0 1 0,0-1 0,0 1 0,0 0 0,2 2 0,-2 1 0,0-1 0,0 0 0,-1 0 0,0 1 0,1-1 0,-1 1 0,-1-1 0,1 1 0,-1-1 0,0 1 0,0 6 0,-4 138-1365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7:44:31.38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1051 0 24575,'-1051'0'0,"1163"0"-1365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7:44:32.82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41 24503,'2375'0'0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7:44:38.72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7:44:41.99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24562,'0'175'0,"2422"-175"0,-2422-175 0,-2422 175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9635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BF4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BF4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customXml" Target="../ink/ink4.xml"/><Relationship Id="rId1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customXml" Target="../ink/ink8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5" Type="http://schemas.openxmlformats.org/officeDocument/2006/relationships/customXml" Target="../ink/ink9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9.png"/><Relationship Id="rId7" Type="http://schemas.openxmlformats.org/officeDocument/2006/relationships/customXml" Target="../ink/ink10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4.png"/><Relationship Id="rId4" Type="http://schemas.openxmlformats.org/officeDocument/2006/relationships/image" Target="../media/image20.png"/><Relationship Id="rId9" Type="http://schemas.openxmlformats.org/officeDocument/2006/relationships/customXml" Target="../ink/ink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6.png"/><Relationship Id="rId4" Type="http://schemas.openxmlformats.org/officeDocument/2006/relationships/customXml" Target="../ink/ink1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7.png"/><Relationship Id="rId7" Type="http://schemas.openxmlformats.org/officeDocument/2006/relationships/customXml" Target="../ink/ink13.xml"/><Relationship Id="rId12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0.svg"/><Relationship Id="rId11" Type="http://schemas.openxmlformats.org/officeDocument/2006/relationships/customXml" Target="../ink/ink15.xml"/><Relationship Id="rId5" Type="http://schemas.openxmlformats.org/officeDocument/2006/relationships/image" Target="../media/image29.svg"/><Relationship Id="rId10" Type="http://schemas.openxmlformats.org/officeDocument/2006/relationships/image" Target="../media/image32.png"/><Relationship Id="rId4" Type="http://schemas.openxmlformats.org/officeDocument/2006/relationships/image" Target="../media/image28.svg"/><Relationship Id="rId9" Type="http://schemas.openxmlformats.org/officeDocument/2006/relationships/customXml" Target="../ink/ink1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4.svg"/><Relationship Id="rId7" Type="http://schemas.openxmlformats.org/officeDocument/2006/relationships/image" Target="../media/image38.svg"/><Relationship Id="rId12" Type="http://schemas.openxmlformats.org/officeDocument/2006/relationships/image" Target="../media/image4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7.svg"/><Relationship Id="rId11" Type="http://schemas.openxmlformats.org/officeDocument/2006/relationships/customXml" Target="../ink/ink17.xml"/><Relationship Id="rId5" Type="http://schemas.openxmlformats.org/officeDocument/2006/relationships/image" Target="../media/image36.svg"/><Relationship Id="rId10" Type="http://schemas.openxmlformats.org/officeDocument/2006/relationships/image" Target="../media/image7.png"/><Relationship Id="rId4" Type="http://schemas.openxmlformats.org/officeDocument/2006/relationships/image" Target="../media/image35.svg"/><Relationship Id="rId9" Type="http://schemas.openxmlformats.org/officeDocument/2006/relationships/customXml" Target="../ink/ink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DFECE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696120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 Storytelling &amp; Statistical Validation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96119" y="2794695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ApexPlanet Data Analytics Internship — Task 4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96119" y="3180978"/>
            <a:ext cx="2071836" cy="266402"/>
          </a:xfrm>
          <a:prstGeom prst="roundRect">
            <a:avLst>
              <a:gd name="adj" fmla="val 17880"/>
            </a:avLst>
          </a:prstGeom>
          <a:solidFill>
            <a:srgbClr val="DFEC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81174" y="3223468"/>
            <a:ext cx="2358926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PRESENTED BY LUCKY GHANGHAS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7336" y="324966"/>
            <a:ext cx="3170709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Project Objective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27336" y="830312"/>
            <a:ext cx="7489254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goal of this project was to analyze real business data, uncover meaningful patterns, validate findings through rigorous statistical methods, and deliver actionable, data-driven recommendations to support smarter business decision-making.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827336" y="1230362"/>
            <a:ext cx="7489254" cy="651197"/>
          </a:xfrm>
          <a:prstGeom prst="roundRect">
            <a:avLst>
              <a:gd name="adj" fmla="val 7001"/>
            </a:avLst>
          </a:prstGeom>
          <a:solidFill>
            <a:srgbClr val="FFFFFF"/>
          </a:solidFill>
          <a:ln w="14288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41623" y="1244650"/>
            <a:ext cx="434132" cy="622622"/>
          </a:xfrm>
          <a:prstGeom prst="roundRect">
            <a:avLst>
              <a:gd name="adj" fmla="val 6551"/>
            </a:avLst>
          </a:prstGeom>
          <a:solidFill>
            <a:srgbClr val="DFEC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46299" y="1454200"/>
            <a:ext cx="391344" cy="203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358801" y="1353145"/>
            <a:ext cx="18139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Analyze Trends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358801" y="1572518"/>
            <a:ext cx="7292206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Explore customer behavior and sales performance across time periods.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27336" y="1964606"/>
            <a:ext cx="7489254" cy="651197"/>
          </a:xfrm>
          <a:prstGeom prst="roundRect">
            <a:avLst>
              <a:gd name="adj" fmla="val 7001"/>
            </a:avLst>
          </a:prstGeom>
          <a:solidFill>
            <a:srgbClr val="FFFFFF"/>
          </a:solidFill>
          <a:ln w="14288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41623" y="1978893"/>
            <a:ext cx="434132" cy="622622"/>
          </a:xfrm>
          <a:prstGeom prst="roundRect">
            <a:avLst>
              <a:gd name="adj" fmla="val 6551"/>
            </a:avLst>
          </a:prstGeom>
          <a:solidFill>
            <a:srgbClr val="DFEC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46299" y="2188443"/>
            <a:ext cx="391344" cy="203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358801" y="2087389"/>
            <a:ext cx="18139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Identify KPIs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358801" y="2306762"/>
            <a:ext cx="7292206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Surface the metrics that matter most to business health and growth.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27336" y="2698849"/>
            <a:ext cx="7489254" cy="651197"/>
          </a:xfrm>
          <a:prstGeom prst="roundRect">
            <a:avLst>
              <a:gd name="adj" fmla="val 7001"/>
            </a:avLst>
          </a:prstGeom>
          <a:solidFill>
            <a:srgbClr val="FFFFFF"/>
          </a:solidFill>
          <a:ln w="14288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41623" y="2713137"/>
            <a:ext cx="434132" cy="622622"/>
          </a:xfrm>
          <a:prstGeom prst="roundRect">
            <a:avLst>
              <a:gd name="adj" fmla="val 6551"/>
            </a:avLst>
          </a:prstGeom>
          <a:solidFill>
            <a:srgbClr val="DFEC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46299" y="2922687"/>
            <a:ext cx="391344" cy="203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358801" y="2821632"/>
            <a:ext cx="18139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Build Insights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358801" y="3041005"/>
            <a:ext cx="7292206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Transform raw data into structured, meaningful business narratives.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27336" y="3433093"/>
            <a:ext cx="7489254" cy="651197"/>
          </a:xfrm>
          <a:prstGeom prst="roundRect">
            <a:avLst>
              <a:gd name="adj" fmla="val 7001"/>
            </a:avLst>
          </a:prstGeom>
          <a:solidFill>
            <a:srgbClr val="FFFFFF"/>
          </a:solidFill>
          <a:ln w="14288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41623" y="3447380"/>
            <a:ext cx="434132" cy="622622"/>
          </a:xfrm>
          <a:prstGeom prst="roundRect">
            <a:avLst>
              <a:gd name="adj" fmla="val 6551"/>
            </a:avLst>
          </a:prstGeom>
          <a:solidFill>
            <a:srgbClr val="DFEC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46299" y="3656930"/>
            <a:ext cx="391344" cy="203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4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358801" y="3555876"/>
            <a:ext cx="18139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Validate Statistically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358801" y="3775249"/>
            <a:ext cx="7292206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Apply hypothesis testing to confirm findings with confidence.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27336" y="4167336"/>
            <a:ext cx="7489254" cy="651197"/>
          </a:xfrm>
          <a:prstGeom prst="roundRect">
            <a:avLst>
              <a:gd name="adj" fmla="val 7001"/>
            </a:avLst>
          </a:prstGeom>
          <a:solidFill>
            <a:srgbClr val="FFFFFF"/>
          </a:solidFill>
          <a:ln w="14288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841623" y="4181624"/>
            <a:ext cx="434132" cy="622622"/>
          </a:xfrm>
          <a:prstGeom prst="roundRect">
            <a:avLst>
              <a:gd name="adj" fmla="val 6551"/>
            </a:avLst>
          </a:prstGeom>
          <a:solidFill>
            <a:srgbClr val="DFEC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46299" y="4391174"/>
            <a:ext cx="391344" cy="203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5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358801" y="4290120"/>
            <a:ext cx="18139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Present Professionally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358801" y="4509492"/>
            <a:ext cx="7292206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Deliver a polished, stakeholder-ready business presentation.</a:t>
            </a:r>
            <a:endParaRPr lang="en-US" sz="8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23C9A870-17A3-E775-9266-23EE6C431AA8}"/>
                  </a:ext>
                </a:extLst>
              </p14:cNvPr>
              <p14:cNvContentPartPr/>
              <p14:nvPr/>
            </p14:nvContentPartPr>
            <p14:xfrm>
              <a:off x="8139494" y="4878944"/>
              <a:ext cx="434880" cy="7560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23C9A870-17A3-E775-9266-23EE6C431AA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076854" y="4815944"/>
                <a:ext cx="56052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FCF4B549-7248-8DBD-80D1-EC8571AAD7DB}"/>
                  </a:ext>
                </a:extLst>
              </p14:cNvPr>
              <p14:cNvContentPartPr/>
              <p14:nvPr/>
            </p14:nvContentPartPr>
            <p14:xfrm>
              <a:off x="8296814" y="5042744"/>
              <a:ext cx="7920" cy="180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FCF4B549-7248-8DBD-80D1-EC8571AAD7D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234174" y="4980104"/>
                <a:ext cx="13356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9240E99B-5A7B-98BF-B223-62219E771357}"/>
                  </a:ext>
                </a:extLst>
              </p14:cNvPr>
              <p14:cNvContentPartPr/>
              <p14:nvPr/>
            </p14:nvContentPartPr>
            <p14:xfrm>
              <a:off x="8551694" y="4916744"/>
              <a:ext cx="345240" cy="756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9240E99B-5A7B-98BF-B223-62219E77135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488694" y="4853744"/>
                <a:ext cx="470880" cy="13320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380D6570-0D3E-8A7A-1269-5AA3E2151819}"/>
              </a:ext>
            </a:extLst>
          </p:cNvPr>
          <p:cNvGrpSpPr/>
          <p:nvPr/>
        </p:nvGrpSpPr>
        <p:grpSpPr>
          <a:xfrm>
            <a:off x="8094494" y="4880384"/>
            <a:ext cx="930960" cy="149040"/>
            <a:chOff x="8094494" y="4880384"/>
            <a:chExt cx="930960" cy="14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5D38180-61D0-6F49-4995-68D76B33FBF5}"/>
                    </a:ext>
                  </a:extLst>
                </p14:cNvPr>
                <p14:cNvContentPartPr/>
                <p14:nvPr/>
              </p14:nvContentPartPr>
              <p14:xfrm>
                <a:off x="8207894" y="5021504"/>
                <a:ext cx="37080" cy="3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5D38180-61D0-6F49-4995-68D76B33FBF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144894" y="4958504"/>
                  <a:ext cx="1627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9F83F9D-0A92-8711-47A7-81D7373BFAEB}"/>
                    </a:ext>
                  </a:extLst>
                </p14:cNvPr>
                <p14:cNvContentPartPr/>
                <p14:nvPr/>
              </p14:nvContentPartPr>
              <p14:xfrm>
                <a:off x="8094494" y="5029064"/>
                <a:ext cx="360" cy="3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9F83F9D-0A92-8711-47A7-81D7373BFAE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031854" y="4966064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8257F45-E83B-2E55-7869-BD356DBC9560}"/>
                    </a:ext>
                  </a:extLst>
                </p14:cNvPr>
                <p14:cNvContentPartPr/>
                <p14:nvPr/>
              </p14:nvContentPartPr>
              <p14:xfrm>
                <a:off x="8094494" y="4880384"/>
                <a:ext cx="930960" cy="1486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8257F45-E83B-2E55-7869-BD356DBC956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031854" y="4817744"/>
                  <a:ext cx="1056600" cy="2743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DFECE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6987" y="368424"/>
            <a:ext cx="3304952" cy="44066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34132" y="461888"/>
            <a:ext cx="4727079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Key Insights from Data Analysis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34132" y="1012180"/>
            <a:ext cx="4846737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analysis surfaced critical patterns across sales cycles, customer behavior, and product performance — forming the backbone of all strategic recommendations.</a:t>
            </a:r>
            <a:endParaRPr lang="en-US" sz="9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132" y="1506289"/>
            <a:ext cx="310083" cy="31008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79872" y="1506289"/>
            <a:ext cx="216411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Continuous Sales Growth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879872" y="1765250"/>
            <a:ext cx="4400996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Monthly revenue trended upward consistently, driven by seasonal campaigns and product mix optimization.</a:t>
            </a:r>
            <a:endParaRPr lang="en-US" sz="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4132" y="2354387"/>
            <a:ext cx="310083" cy="31008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79872" y="2354387"/>
            <a:ext cx="249629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Improved Customer Retention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879872" y="2613347"/>
            <a:ext cx="4400996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Retention rates improved quarter-over-quarter as targeted loyalty initiatives took effect.</a:t>
            </a:r>
            <a:endParaRPr lang="en-US" sz="9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4132" y="3202484"/>
            <a:ext cx="310083" cy="31008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79872" y="3202484"/>
            <a:ext cx="256267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High-Value Product Categories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879872" y="3461445"/>
            <a:ext cx="4400996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Specific product segments generated disproportionately higher revenue, informing future inventory strategy.</a:t>
            </a:r>
            <a:endParaRPr lang="en-US" sz="9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4132" y="4050581"/>
            <a:ext cx="310083" cy="31008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79872" y="4050581"/>
            <a:ext cx="263284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High-Value Customer Segments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879872" y="4309542"/>
            <a:ext cx="4400996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Customer segmentation identified top-tier users contributing the majority of total revenue.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640" y="382935"/>
            <a:ext cx="3991942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Critical KPIs at a Glance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80640" y="1078111"/>
            <a:ext cx="8182719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Four core metrics were tracked throughout the analysis to measure business health and validate the impact of strategic initiatives.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52040" y="1729011"/>
            <a:ext cx="4236839" cy="453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18%</a:t>
            </a:r>
            <a:endParaRPr lang="en-US" sz="3550" dirty="0"/>
          </a:p>
        </p:txBody>
      </p:sp>
      <p:sp>
        <p:nvSpPr>
          <p:cNvPr id="5" name="Text 3"/>
          <p:cNvSpPr/>
          <p:nvPr/>
        </p:nvSpPr>
        <p:spPr>
          <a:xfrm>
            <a:off x="1397794" y="2350517"/>
            <a:ext cx="19452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Revenue Growth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80640" y="2644825"/>
            <a:ext cx="4008239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1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Year-over-year increase in total revenue across all product lines.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426521" y="1729011"/>
            <a:ext cx="4236839" cy="453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74%</a:t>
            </a:r>
            <a:endParaRPr lang="en-US" sz="3550" dirty="0"/>
          </a:p>
        </p:txBody>
      </p:sp>
      <p:sp>
        <p:nvSpPr>
          <p:cNvPr id="8" name="Text 6"/>
          <p:cNvSpPr/>
          <p:nvPr/>
        </p:nvSpPr>
        <p:spPr>
          <a:xfrm>
            <a:off x="5572274" y="2350517"/>
            <a:ext cx="19452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Retention Rate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655121" y="2644825"/>
            <a:ext cx="4008239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1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Customer retention rate achieved following loyalty campaign rollout.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52040" y="3412108"/>
            <a:ext cx="4236839" cy="453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3.2x</a:t>
            </a:r>
            <a:endParaRPr lang="en-US" sz="3550" dirty="0"/>
          </a:p>
        </p:txBody>
      </p:sp>
      <p:sp>
        <p:nvSpPr>
          <p:cNvPr id="11" name="Text 9"/>
          <p:cNvSpPr/>
          <p:nvPr/>
        </p:nvSpPr>
        <p:spPr>
          <a:xfrm>
            <a:off x="1397794" y="4033614"/>
            <a:ext cx="19452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Conversion Rate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52040" y="4327922"/>
            <a:ext cx="4236839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1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Uplift in conversion observed after strategy implementation.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426521" y="3412108"/>
            <a:ext cx="4236839" cy="453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$142</a:t>
            </a:r>
            <a:endParaRPr lang="en-US" sz="3550" dirty="0"/>
          </a:p>
        </p:txBody>
      </p:sp>
      <p:sp>
        <p:nvSpPr>
          <p:cNvPr id="14" name="Text 12"/>
          <p:cNvSpPr/>
          <p:nvPr/>
        </p:nvSpPr>
        <p:spPr>
          <a:xfrm>
            <a:off x="5572274" y="4033614"/>
            <a:ext cx="19452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Avg. Order Value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655121" y="4327922"/>
            <a:ext cx="4008239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1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Average order value across all customer segments and channels.</a:t>
            </a:r>
            <a:endParaRPr lang="en-US" sz="10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F8B46BA-79A0-B8F4-6110-C0154FFE0BEB}"/>
                  </a:ext>
                </a:extLst>
              </p14:cNvPr>
              <p14:cNvContentPartPr/>
              <p14:nvPr/>
            </p14:nvContentPartPr>
            <p14:xfrm>
              <a:off x="8409494" y="4922864"/>
              <a:ext cx="579960" cy="7524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CF8B46BA-79A0-B8F4-6110-C0154FFE0BE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46494" y="4860224"/>
                <a:ext cx="70560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423D0706-26D0-712B-CAD8-09D58326EC6B}"/>
                  </a:ext>
                </a:extLst>
              </p14:cNvPr>
              <p14:cNvContentPartPr/>
              <p14:nvPr/>
            </p14:nvContentPartPr>
            <p14:xfrm>
              <a:off x="7920974" y="4903064"/>
              <a:ext cx="1504800" cy="12888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423D0706-26D0-712B-CAD8-09D58326EC6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857974" y="4840424"/>
                <a:ext cx="1630440" cy="254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9452" y="282029"/>
            <a:ext cx="3767212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Interactive Dashboard Findings</a:t>
            </a:r>
            <a:endParaRPr lang="en-US" sz="1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452" y="762372"/>
            <a:ext cx="3591744" cy="3591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43636" y="1911921"/>
            <a:ext cx="1985888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What the Dashboard Reveals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043636" y="2131144"/>
            <a:ext cx="2895526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An interactive dashboard was built to centralize business performance monitoring and enable faster, evidence-based decisions.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5043636" y="2601218"/>
            <a:ext cx="2895526" cy="594940"/>
          </a:xfrm>
          <a:prstGeom prst="roundRect">
            <a:avLst>
              <a:gd name="adj" fmla="val 6881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044" y="2723406"/>
            <a:ext cx="121816" cy="974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60268" y="2692524"/>
            <a:ext cx="2481486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dashboard empowers management to monitor KPIs in real time and act on emerging trends without delay.</a:t>
            </a:r>
            <a:endParaRPr lang="en-US" sz="750" dirty="0"/>
          </a:p>
        </p:txBody>
      </p:sp>
      <p:sp>
        <p:nvSpPr>
          <p:cNvPr id="9" name="Shape 5"/>
          <p:cNvSpPr/>
          <p:nvPr/>
        </p:nvSpPr>
        <p:spPr>
          <a:xfrm>
            <a:off x="1209452" y="4504879"/>
            <a:ext cx="1631007" cy="356592"/>
          </a:xfrm>
          <a:prstGeom prst="roundRect">
            <a:avLst>
              <a:gd name="adj" fmla="val 11480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/>
          <p:nvPr/>
        </p:nvSpPr>
        <p:spPr>
          <a:xfrm>
            <a:off x="1311622" y="4607049"/>
            <a:ext cx="16755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KPI Tracking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2907432" y="4504879"/>
            <a:ext cx="1631007" cy="356592"/>
          </a:xfrm>
          <a:prstGeom prst="roundRect">
            <a:avLst>
              <a:gd name="adj" fmla="val 11480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3009602" y="4607049"/>
            <a:ext cx="16755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Revenue Analysis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605412" y="4504879"/>
            <a:ext cx="1631007" cy="356592"/>
          </a:xfrm>
          <a:prstGeom prst="roundRect">
            <a:avLst>
              <a:gd name="adj" fmla="val 11480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4707582" y="4607049"/>
            <a:ext cx="16755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Customer Segments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303392" y="4504879"/>
            <a:ext cx="1631082" cy="356592"/>
          </a:xfrm>
          <a:prstGeom prst="roundRect">
            <a:avLst>
              <a:gd name="adj" fmla="val 11480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/>
          <p:nvPr/>
        </p:nvSpPr>
        <p:spPr>
          <a:xfrm>
            <a:off x="6405562" y="4607049"/>
            <a:ext cx="16755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Funnel Analysis</a:t>
            </a:r>
            <a:endParaRPr lang="en-US" sz="9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6CC32FC8-3090-5F69-E3C4-E5E68B7CBFA7}"/>
                  </a:ext>
                </a:extLst>
              </p14:cNvPr>
              <p14:cNvContentPartPr/>
              <p14:nvPr/>
            </p14:nvContentPartPr>
            <p14:xfrm>
              <a:off x="8094134" y="4905224"/>
              <a:ext cx="927000" cy="12348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6CC32FC8-3090-5F69-E3C4-E5E68B7CBFA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031494" y="4842224"/>
                <a:ext cx="1052640" cy="249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54025"/>
            <a:ext cx="441751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Tools &amp; Technology Stack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80530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dashboard and analytical pipeline were built using an industry-standard toolkit — ensuring scalability, accuracy, and reproducibility of all findings.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993627"/>
            <a:ext cx="1104900" cy="11049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327570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Power BI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3582219"/>
            <a:ext cx="1905000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Built interactive dashboards and dynamic visualizations for stakeholder reporting.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8298" y="1993627"/>
            <a:ext cx="1104900" cy="11049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578298" y="327570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SQL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2578298" y="3582219"/>
            <a:ext cx="190507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Queried and cleaned large datasets, enabling precise, structured data extraction.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0553" y="1993627"/>
            <a:ext cx="1104900" cy="11049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660553" y="327570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Python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4660553" y="3582219"/>
            <a:ext cx="190507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Performed statistical analysis, hypothesis testing, and data wrangling pipelines.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2807" y="1993627"/>
            <a:ext cx="1104900" cy="11049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742807" y="327570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Excel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6742807" y="3582219"/>
            <a:ext cx="190507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Used for preliminary exploration, pivot analysis, and stakeholder-ready data exports.</a:t>
            </a:r>
            <a:endParaRPr lang="en-US" sz="11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DB88BE5-BFB6-6C3D-698C-B018D27A6FD1}"/>
              </a:ext>
            </a:extLst>
          </p:cNvPr>
          <p:cNvGrpSpPr/>
          <p:nvPr/>
        </p:nvGrpSpPr>
        <p:grpSpPr>
          <a:xfrm>
            <a:off x="8087294" y="4885784"/>
            <a:ext cx="972720" cy="181800"/>
            <a:chOff x="8087294" y="4885784"/>
            <a:chExt cx="972720" cy="18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61BA3E1-12CA-F6B3-CB2C-2CB389BBC765}"/>
                    </a:ext>
                  </a:extLst>
                </p14:cNvPr>
                <p14:cNvContentPartPr/>
                <p14:nvPr/>
              </p14:nvContentPartPr>
              <p14:xfrm>
                <a:off x="8087294" y="4885784"/>
                <a:ext cx="972720" cy="1306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61BA3E1-12CA-F6B3-CB2C-2CB389BBC76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024294" y="4823144"/>
                  <a:ext cx="109836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710053A-F24D-DF6B-9EE3-A9ACEC1AE2D4}"/>
                    </a:ext>
                  </a:extLst>
                </p14:cNvPr>
                <p14:cNvContentPartPr/>
                <p14:nvPr/>
              </p14:nvContentPartPr>
              <p14:xfrm>
                <a:off x="8100419" y="4936184"/>
                <a:ext cx="871560" cy="1314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710053A-F24D-DF6B-9EE3-A9ACEC1AE2D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037419" y="4873544"/>
                  <a:ext cx="997200" cy="2570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5219" y="335979"/>
            <a:ext cx="6000006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Statistical Validation &amp; Hypothesis Testing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45219" y="962025"/>
            <a:ext cx="2089696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The Business Hypothesis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45219" y="1249784"/>
            <a:ext cx="3980780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i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"The new business strategy significantly increased customer conversion rate."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636443" y="861120"/>
            <a:ext cx="4153123" cy="2965103"/>
          </a:xfrm>
          <a:prstGeom prst="roundRect">
            <a:avLst>
              <a:gd name="adj" fmla="val 2905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756026" y="962025"/>
            <a:ext cx="19524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Test Results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56026" y="1262360"/>
            <a:ext cx="1906488" cy="889174"/>
          </a:xfrm>
          <a:prstGeom prst="roundRect">
            <a:avLst>
              <a:gd name="adj" fmla="val 5650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880372" y="1386706"/>
            <a:ext cx="19524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p-value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880372" y="1674465"/>
            <a:ext cx="1657796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0.0029 — well below the 0.05 threshold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763420" y="1262360"/>
            <a:ext cx="1906563" cy="889174"/>
          </a:xfrm>
          <a:prstGeom prst="roundRect">
            <a:avLst>
              <a:gd name="adj" fmla="val 5650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887766" y="1386706"/>
            <a:ext cx="19524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Confidence Level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887766" y="1674465"/>
            <a:ext cx="1657871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95% — results are statistically robust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6026" y="2252439"/>
            <a:ext cx="3913956" cy="712812"/>
          </a:xfrm>
          <a:prstGeom prst="roundRect">
            <a:avLst>
              <a:gd name="adj" fmla="val 7048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880372" y="2376785"/>
            <a:ext cx="19524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Decision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80372" y="2664544"/>
            <a:ext cx="4122465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Reject the Null Hypothesis ✓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6026" y="3078733"/>
            <a:ext cx="3913956" cy="634008"/>
          </a:xfrm>
          <a:prstGeom prst="roundRect">
            <a:avLst>
              <a:gd name="adj" fmla="val 7924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5609" y="3237756"/>
            <a:ext cx="149498" cy="119583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144691" y="3209479"/>
            <a:ext cx="3405708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strategy produced a measurable, statistically confirmed uplift in conversion performance.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45219" y="3939704"/>
            <a:ext cx="4076254" cy="867817"/>
          </a:xfrm>
          <a:prstGeom prst="roundRect">
            <a:avLst>
              <a:gd name="adj" fmla="val 7903"/>
            </a:avLst>
          </a:prstGeom>
          <a:solidFill>
            <a:srgbClr val="FFFFFF"/>
          </a:solidFill>
          <a:ln w="14288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430932" y="3939704"/>
            <a:ext cx="57150" cy="867817"/>
          </a:xfrm>
          <a:prstGeom prst="roundRect">
            <a:avLst>
              <a:gd name="adj" fmla="val 87907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621953" y="4073575"/>
            <a:ext cx="19524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H₀ — Null Hypothesis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21953" y="4320927"/>
            <a:ext cx="3765649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There is no significant improvement in the customer conversion rate following the strategy change.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622378" y="3939704"/>
            <a:ext cx="4076328" cy="867817"/>
          </a:xfrm>
          <a:prstGeom prst="roundRect">
            <a:avLst>
              <a:gd name="adj" fmla="val 7903"/>
            </a:avLst>
          </a:prstGeom>
          <a:solidFill>
            <a:srgbClr val="FFFFFF"/>
          </a:solidFill>
          <a:ln w="14288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4608091" y="3939704"/>
            <a:ext cx="57150" cy="867817"/>
          </a:xfrm>
          <a:prstGeom prst="roundRect">
            <a:avLst>
              <a:gd name="adj" fmla="val 87907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4799112" y="4073575"/>
            <a:ext cx="2278856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H₁ — Alternative Hypothesis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4799112" y="4320927"/>
            <a:ext cx="3765724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There is a statistically significant improvement in conversion rate attributable to the new strategy.</a:t>
            </a:r>
            <a:endParaRPr lang="en-US" sz="9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B57C3634-75E7-E556-3131-48302AFFBFB1}"/>
                  </a:ext>
                </a:extLst>
              </p14:cNvPr>
              <p14:cNvContentPartPr/>
              <p14:nvPr/>
            </p14:nvContentPartPr>
            <p14:xfrm>
              <a:off x="8095934" y="4901264"/>
              <a:ext cx="887760" cy="11520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B57C3634-75E7-E556-3131-48302AFFBFB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32934" y="4838264"/>
                <a:ext cx="1013400" cy="240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38435"/>
            <a:ext cx="4836170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Hypothesis Test — Visual Summary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89" y="871389"/>
            <a:ext cx="7794947" cy="35076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63494" y="928889"/>
            <a:ext cx="1364088" cy="4215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Define Hypotheses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163494" y="1410442"/>
            <a:ext cx="1364088" cy="3028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H0 vs H1 stated clearly</a:t>
            </a:r>
            <a:endParaRPr lang="en-US" sz="10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98215" y="1972684"/>
            <a:ext cx="302142" cy="30214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58742" y="3665029"/>
            <a:ext cx="1600183" cy="210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Run Test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3887342" y="3935786"/>
            <a:ext cx="1371583" cy="302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Compute p-value = 0.0029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22063" y="3074448"/>
            <a:ext cx="302142" cy="30214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330125" y="1008055"/>
            <a:ext cx="1592688" cy="210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Decision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5558725" y="1278812"/>
            <a:ext cx="1364088" cy="302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Reject H0 — strategy effective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15931" y="1942704"/>
            <a:ext cx="302142" cy="30214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4489" y="4480247"/>
            <a:ext cx="779494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With a p-value of 0.0029 — far below the 0.05 significance threshold at a 95% confidence level — the null hypothesis was decisively rejected, confirming that the new business strategy drove a real, measurable improvement in customer conversion.</a:t>
            </a:r>
            <a:endParaRPr lang="en-US" sz="8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4243FCE2-EC9A-8BDD-E24B-777716CE9DB5}"/>
                  </a:ext>
                </a:extLst>
              </p14:cNvPr>
              <p14:cNvContentPartPr/>
              <p14:nvPr/>
            </p14:nvContentPartPr>
            <p14:xfrm>
              <a:off x="8147054" y="4923944"/>
              <a:ext cx="833760" cy="831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4243FCE2-EC9A-8BDD-E24B-777716CE9DB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084054" y="4860944"/>
                <a:ext cx="959400" cy="20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A27737A-674D-2967-AD3F-7C3D72B56718}"/>
                  </a:ext>
                </a:extLst>
              </p14:cNvPr>
              <p14:cNvContentPartPr/>
              <p14:nvPr/>
            </p14:nvContentPartPr>
            <p14:xfrm>
              <a:off x="8001254" y="5006744"/>
              <a:ext cx="378360" cy="3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A27737A-674D-2967-AD3F-7C3D72B5671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938254" y="4943744"/>
                <a:ext cx="504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7C875312-168A-39F2-9B8B-41F57EDEEEA0}"/>
                  </a:ext>
                </a:extLst>
              </p14:cNvPr>
              <p14:cNvContentPartPr/>
              <p14:nvPr/>
            </p14:nvContentPartPr>
            <p14:xfrm>
              <a:off x="8064254" y="5006384"/>
              <a:ext cx="855720" cy="72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7C875312-168A-39F2-9B8B-41F57EDEEEA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001614" y="4880384"/>
                <a:ext cx="981360" cy="252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393" y="341486"/>
            <a:ext cx="5242471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Skills Developed During This Project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26393" y="931515"/>
            <a:ext cx="8717607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This internship project provided hands-on experience across the full analytics lifecycle — from raw data to boardroom-ready insights.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6393" y="1230437"/>
            <a:ext cx="304577" cy="30457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26393" y="1665833"/>
            <a:ext cx="19800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 Analysis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26393" y="1918990"/>
            <a:ext cx="4080197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Explored, cleaned, and structured complex datasets to extract business-relevant signals.</a:t>
            </a:r>
            <a:endParaRPr lang="en-US" sz="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7410" y="1230437"/>
            <a:ext cx="304577" cy="30457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37410" y="1665833"/>
            <a:ext cx="19800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SQL Querying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4637410" y="1918990"/>
            <a:ext cx="4080197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Wrote advanced queries to extract, filter, and aggregate data from relational databases.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6393" y="2490713"/>
            <a:ext cx="304577" cy="30457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26393" y="2926110"/>
            <a:ext cx="2113731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Dashboard Development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426393" y="3179266"/>
            <a:ext cx="4080197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Designed interactive Power BI dashboards for real-time KPI monitoring.</a:t>
            </a:r>
            <a:endParaRPr lang="en-US" sz="9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37410" y="2490713"/>
            <a:ext cx="304577" cy="30457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37410" y="2926110"/>
            <a:ext cx="19800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Business Intelligence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4637410" y="3179266"/>
            <a:ext cx="4080197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Translated analytical outputs into strategic insights aligned with business goals.</a:t>
            </a:r>
            <a:endParaRPr lang="en-US" sz="9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6393" y="3750990"/>
            <a:ext cx="304577" cy="304577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26393" y="4186386"/>
            <a:ext cx="19800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Hypothesis Testing</a:t>
            </a:r>
            <a:endParaRPr lang="en-US" sz="1150" dirty="0"/>
          </a:p>
        </p:txBody>
      </p:sp>
      <p:sp>
        <p:nvSpPr>
          <p:cNvPr id="18" name="Text 11"/>
          <p:cNvSpPr/>
          <p:nvPr/>
        </p:nvSpPr>
        <p:spPr>
          <a:xfrm>
            <a:off x="426393" y="4439543"/>
            <a:ext cx="4080197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Applied t-tests and p-value analysis to statistically validate business assumptions.</a:t>
            </a:r>
            <a:endParaRPr lang="en-US" sz="9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37410" y="3750990"/>
            <a:ext cx="304577" cy="304577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637410" y="4186386"/>
            <a:ext cx="19800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 Storytelling</a:t>
            </a:r>
            <a:endParaRPr lang="en-US" sz="1150" dirty="0"/>
          </a:p>
        </p:txBody>
      </p:sp>
      <p:sp>
        <p:nvSpPr>
          <p:cNvPr id="21" name="Text 13"/>
          <p:cNvSpPr/>
          <p:nvPr/>
        </p:nvSpPr>
        <p:spPr>
          <a:xfrm>
            <a:off x="4637410" y="4439543"/>
            <a:ext cx="4080197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Communicated findings through clear narratives and professional visual presentations.</a:t>
            </a:r>
            <a:endParaRPr lang="en-US" sz="9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56DDC344-4952-713F-CDF5-A6F025672C22}"/>
                  </a:ext>
                </a:extLst>
              </p14:cNvPr>
              <p14:cNvContentPartPr/>
              <p14:nvPr/>
            </p14:nvContentPartPr>
            <p14:xfrm>
              <a:off x="8139494" y="4939064"/>
              <a:ext cx="360" cy="36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56DDC344-4952-713F-CDF5-A6F025672C2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076854" y="4876064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E517DBF3-6C5B-B865-BDA9-A75E0F27A4A7}"/>
                  </a:ext>
                </a:extLst>
              </p14:cNvPr>
              <p14:cNvContentPartPr/>
              <p14:nvPr/>
            </p14:nvContentPartPr>
            <p14:xfrm>
              <a:off x="8116018" y="4936962"/>
              <a:ext cx="872432" cy="63244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E517DBF3-6C5B-B865-BDA9-A75E0F27A4A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053007" y="4873718"/>
                <a:ext cx="998094" cy="189371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DFECE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8103" y="369912"/>
            <a:ext cx="3302719" cy="44036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1871" y="404068"/>
            <a:ext cx="4350693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Conclusion &amp; Final Outcome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441871" y="967234"/>
            <a:ext cx="4831259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This project demonstrated a complete, end-to-end analytics workflow — from raw data exploration through statistical validation to professional business storytelling.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441871" y="1666577"/>
            <a:ext cx="2359372" cy="1290414"/>
          </a:xfrm>
          <a:prstGeom prst="roundRect">
            <a:avLst>
              <a:gd name="adj" fmla="val 4110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72839" y="1797546"/>
            <a:ext cx="20354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🎯</a:t>
            </a:r>
            <a:r>
              <a:rPr lang="en-US" sz="1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Objective Met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72839" y="2062237"/>
            <a:ext cx="2097435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All analytical goals were achieved, from trend analysis to KPI identification and statistical validation.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913683" y="1666577"/>
            <a:ext cx="2359447" cy="1290414"/>
          </a:xfrm>
          <a:prstGeom prst="roundRect">
            <a:avLst>
              <a:gd name="adj" fmla="val 4110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3044651" y="1797546"/>
            <a:ext cx="20354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📊</a:t>
            </a:r>
            <a:r>
              <a:rPr lang="en-US" sz="1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Insights Delivered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044651" y="2062237"/>
            <a:ext cx="2097509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Raw business data was transformed into clear, actionable recommendations for management.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41871" y="3069431"/>
            <a:ext cx="4831259" cy="908521"/>
          </a:xfrm>
          <a:prstGeom prst="roundRect">
            <a:avLst>
              <a:gd name="adj" fmla="val 5837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572839" y="3200400"/>
            <a:ext cx="20354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✅</a:t>
            </a:r>
            <a:r>
              <a:rPr lang="en-US" sz="1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Results Confirmed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72839" y="3465091"/>
            <a:ext cx="4569321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Hypothesis testing provided statistical confidence that the new strategy delivered measurable impact.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31254" y="4230960"/>
            <a:ext cx="4641875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Thank you for this opportunity. — Lucky Ghanghas | ApexPlanet Data Analytics Internship, Task 4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41871" y="4104456"/>
            <a:ext cx="14288" cy="634901"/>
          </a:xfrm>
          <a:prstGeom prst="rect">
            <a:avLst/>
          </a:prstGeom>
          <a:solidFill>
            <a:srgbClr val="437066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791</Words>
  <Application>Microsoft Office PowerPoint</Application>
  <PresentationFormat>On-screen Show (16:9)</PresentationFormat>
  <Paragraphs>118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Martel Sans</vt:lpstr>
      <vt:lpstr>Kanit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Lucky Ghanghas</cp:lastModifiedBy>
  <cp:revision>2</cp:revision>
  <dcterms:created xsi:type="dcterms:W3CDTF">2026-05-16T07:42:07Z</dcterms:created>
  <dcterms:modified xsi:type="dcterms:W3CDTF">2026-05-16T07:45:16Z</dcterms:modified>
</cp:coreProperties>
</file>